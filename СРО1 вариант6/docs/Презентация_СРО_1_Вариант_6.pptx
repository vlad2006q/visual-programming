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502920"/>
            <a:ext cx="2194560" cy="2194560"/>
          </a:xfrm>
          <a:prstGeom prst="ellipse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2103120"/>
            <a:ext cx="1234440" cy="123444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58200" y="4023360"/>
            <a:ext cx="1645920" cy="1645920"/>
          </a:xfrm>
          <a:prstGeom prst="ellipse">
            <a:avLst/>
          </a:prstGeom>
          <a:solidFill>
            <a:srgbClr val="ED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480060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7315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AACAFF"/>
                </a:solidFill>
                <a:latin typeface="Aptos"/>
              </a:defRPr>
            </a:pPr>
            <a:r>
              <a:t>СРО №1 • ВИЗУАЛЬНОЕ ПРОГРАММИРОВАНИЕ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7589520" cy="1280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Student Grade</a:t>
            </a:r>
          </a:p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27248"/>
            <a:ext cx="658368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900" b="0">
                <a:solidFill>
                  <a:srgbClr val="DCE6F4"/>
                </a:solidFill>
                <a:latin typeface="Aptos"/>
              </a:defRPr>
            </a:pPr>
            <a:r>
              <a:t>Вариант 6 — журнал оценок студентов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349240"/>
            <a:ext cx="548640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Выполнил(а): [ФИО]</a:t>
            </a:r>
          </a:p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Группа: [название группы]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355080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0">
                <a:solidFill>
                  <a:srgbClr val="AABED7"/>
                </a:solidFill>
                <a:latin typeface="Aptos"/>
              </a:defRPr>
            </a:pPr>
            <a:r>
              <a:t>Алматы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245BDB"/>
                </a:solidFill>
                <a:latin typeface="Aptos"/>
              </a:defRPr>
            </a:pPr>
            <a:r>
              <a:t>STUDENT GRADE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Цель и постановка задачи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ptos"/>
              </a:defRPr>
            </a:pPr>
            <a:r>
              <a:t>СРО №1 • ВАРИАНТ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3520440" cy="1874519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73152" cy="1874519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19072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76272"/>
            <a:ext cx="3136392" cy="11247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Разработать настольное приложение с графическим интерфейсом JavaFX и хранением оценок студентов.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520440" cy="1874519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73152" cy="1874519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19072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Данные записи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76272"/>
            <a:ext cx="3136392" cy="11247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ФИО студента, группа, дисциплина и балл от 0 до 100.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54480"/>
            <a:ext cx="3520440" cy="1874519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54480"/>
            <a:ext cx="73152" cy="1874519"/>
          </a:xfrm>
          <a:prstGeom prst="rect">
            <a:avLst/>
          </a:prstGeom>
          <a:solidFill>
            <a:srgbClr val="ED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719072"/>
            <a:ext cx="315468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176272"/>
            <a:ext cx="3136392" cy="11247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Удобный журнал с поиском, фильтрами, проверкой ввода и подсчётом среднего балла.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800" b="1">
                <a:solidFill>
                  <a:srgbClr val="17365D"/>
                </a:solidFill>
                <a:latin typeface="Aptos"/>
              </a:defRPr>
            </a:pPr>
            <a:r>
              <a:t>Основные требования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0">
                <a:solidFill>
                  <a:srgbClr val="233043"/>
                </a:solidFill>
                <a:latin typeface="Aptos"/>
              </a:defRPr>
            </a:pPr>
            <a:r>
              <a:t>•  CRUD-операции: создание, изменение и удаление записей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0">
                <a:solidFill>
                  <a:srgbClr val="233043"/>
                </a:solidFill>
                <a:latin typeface="Aptos"/>
              </a:defRPr>
            </a:pPr>
            <a:r>
              <a:t>•  Фильтрация по группе и дисциплине, поиск по имени и предмету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0">
                <a:solidFill>
                  <a:srgbClr val="233043"/>
                </a:solidFill>
                <a:latin typeface="Aptos"/>
              </a:defRPr>
            </a:pPr>
            <a:r>
              <a:t>•  Сохранение и загрузка информации из CSV-файла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245BDB"/>
                </a:solidFill>
                <a:latin typeface="Aptos"/>
              </a:defRPr>
            </a:pPr>
            <a:r>
              <a:t>STUDENT GRADE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Технологии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ptos"/>
              </a:defRPr>
            </a:pPr>
            <a:r>
              <a:t>СРО №1 • ВАРИАНТ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73152" cy="150876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1907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Java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3044952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Язык программирования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54480"/>
            <a:ext cx="3429000" cy="150876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554480"/>
            <a:ext cx="73152" cy="15087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71907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JavaFX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176272"/>
            <a:ext cx="3044952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Элементы интерфейса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54480"/>
            <a:ext cx="3429000" cy="150876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554480"/>
            <a:ext cx="73152" cy="1508760"/>
          </a:xfrm>
          <a:prstGeom prst="rect">
            <a:avLst/>
          </a:prstGeom>
          <a:solidFill>
            <a:srgbClr val="ED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71907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FXML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176272"/>
            <a:ext cx="3044952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Разметка окон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520439"/>
            <a:ext cx="73152" cy="1508760"/>
          </a:xfrm>
          <a:prstGeom prst="rect">
            <a:avLst/>
          </a:prstGeom>
          <a:solidFill>
            <a:srgbClr val="C3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685031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142231"/>
            <a:ext cx="3044952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Стили интерфейса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520439"/>
            <a:ext cx="3429000" cy="150876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3520439"/>
            <a:ext cx="73152" cy="150876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685031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Maven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4142231"/>
            <a:ext cx="3044952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Зависимости и запуск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20439"/>
            <a:ext cx="3429000" cy="150876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3520439"/>
            <a:ext cx="73152" cy="15087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3685031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4142231"/>
            <a:ext cx="3044952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Хранение данных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Запуск из корня проекта:  mvn clean javafx:run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245BDB"/>
                </a:solidFill>
                <a:latin typeface="Aptos"/>
              </a:defRPr>
            </a:pPr>
            <a:r>
              <a:t>STUDENT GRADE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Функциональность приложения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ptos"/>
              </a:defRPr>
            </a:pPr>
            <a:r>
              <a:t>СРО №1 • ВАРИАНТ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5212080" cy="118872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81328"/>
            <a:ext cx="73152" cy="118872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45920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01  Просмотр журнала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03120"/>
            <a:ext cx="482803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Таблица показывает ФИО, группу, дисциплину, баллы и итоговую оценку.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81328"/>
            <a:ext cx="5212080" cy="118872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81328"/>
            <a:ext cx="73152" cy="1188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645920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02  Добавление и изменение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103120"/>
            <a:ext cx="482803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Отдельная форма ввода с сохранением или отменой.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62656"/>
            <a:ext cx="5212080" cy="118872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962656"/>
            <a:ext cx="73152" cy="1188720"/>
          </a:xfrm>
          <a:prstGeom prst="rect">
            <a:avLst/>
          </a:prstGeom>
          <a:solidFill>
            <a:srgbClr val="ED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127248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03  Удаление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584448"/>
            <a:ext cx="482803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Подтверждение защищает от случайного удаления.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962656"/>
            <a:ext cx="5212080" cy="118872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962656"/>
            <a:ext cx="73152" cy="1188720"/>
          </a:xfrm>
          <a:prstGeom prst="rect">
            <a:avLst/>
          </a:prstGeom>
          <a:solidFill>
            <a:srgbClr val="C3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127248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04  Поиск и фильтрация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584448"/>
            <a:ext cx="482803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Поиск по имени и предмету, фильтры по группе и предмету.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43984"/>
            <a:ext cx="5212080" cy="118872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443984"/>
            <a:ext cx="73152" cy="118872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608576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05  Средний балл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5065776"/>
            <a:ext cx="482803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Суммарный показатель обновляется после фильтрации.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443984"/>
            <a:ext cx="5212080" cy="118872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443984"/>
            <a:ext cx="73152" cy="1188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4608576"/>
            <a:ext cx="4846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06  Сохранение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5065776"/>
            <a:ext cx="482803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CSV-файл используется для постоянного хранения записей.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245BDB"/>
                </a:solidFill>
                <a:latin typeface="Aptos"/>
              </a:defRPr>
            </a:pPr>
            <a:r>
              <a:t>STUDENT GRADE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Структура программы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ptos"/>
              </a:defRPr>
            </a:pPr>
            <a:r>
              <a:t>СРО №1 • ВАРИАНТ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926080" cy="146304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146304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2560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FXML +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50592"/>
            <a:ext cx="2542032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Описывают окна и внешний вид.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828800"/>
            <a:ext cx="2926080" cy="146304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828800"/>
            <a:ext cx="73152" cy="146304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1993392"/>
            <a:ext cx="2560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Контроллеры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450592"/>
            <a:ext cx="2542032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MainController и GradeFormController.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828800"/>
            <a:ext cx="2926080" cy="146304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5360" y="1828800"/>
            <a:ext cx="73152" cy="1463040"/>
          </a:xfrm>
          <a:prstGeom prst="rect">
            <a:avLst/>
          </a:prstGeom>
          <a:solidFill>
            <a:srgbClr val="ED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1993392"/>
            <a:ext cx="256032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Модель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2450592"/>
            <a:ext cx="2542032" cy="713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StudentGrade — данные об оценке.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66160" y="2560320"/>
            <a:ext cx="10515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43800" y="2560320"/>
            <a:ext cx="10515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28800" y="4160520"/>
            <a:ext cx="3657600" cy="123444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4160520"/>
            <a:ext cx="73152" cy="123444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29968" y="4325112"/>
            <a:ext cx="32918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GradeService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4782312"/>
            <a:ext cx="327355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Загрузка/сохранение CSV и демоданные.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4160520"/>
            <a:ext cx="3657600" cy="123444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4160520"/>
            <a:ext cx="73152" cy="123444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6288" y="4325112"/>
            <a:ext cx="329184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data/grades.csv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782312"/>
            <a:ext cx="327355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Файл с записями, кодировка UTF-8.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657600" y="3291840"/>
            <a:ext cx="1828800" cy="86868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86400" y="4754880"/>
            <a:ext cx="118872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245BDB"/>
                </a:solidFill>
                <a:latin typeface="Aptos"/>
              </a:defRPr>
            </a:pPr>
            <a:r>
              <a:t>STUDENT GRADE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Главное окно: структура интерфейса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ptos"/>
              </a:defRPr>
            </a:pPr>
            <a:r>
              <a:t>СРО №1 • ВАРИАНТ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Aptos"/>
              </a:defRPr>
            </a:pPr>
            <a:r>
              <a:t>Схематичный макет для объяснения расположения элементов; замените его скриншотом реально запущенного приложения.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744200" cy="4160520"/>
          </a:xfrm>
          <a:prstGeom prst="roundRect">
            <a:avLst/>
          </a:prstGeom>
          <a:solidFill>
            <a:srgbClr val="FAFCFF"/>
          </a:solidFill>
          <a:ln>
            <a:solidFill>
              <a:srgbClr val="C3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17365D"/>
                </a:solidFill>
                <a:latin typeface="Aptos"/>
              </a:defRPr>
            </a:pPr>
            <a:r>
              <a:t>Student Grade Calculator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40280"/>
            <a:ext cx="10332720" cy="329184"/>
          </a:xfrm>
          <a:prstGeom prst="rect">
            <a:avLst/>
          </a:prstGeom>
          <a:solidFill>
            <a:srgbClr val="ED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295144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900" b="0">
                <a:solidFill>
                  <a:srgbClr val="233043"/>
                </a:solidFill>
                <a:latin typeface="Aptos"/>
              </a:defRPr>
            </a:pPr>
            <a:r>
              <a:t>Файл     Правка     Справка       [＋ Добавить]   [Изменить]   [Удалить]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724912"/>
            <a:ext cx="38404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1635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Поиск по студенту или дисциплине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724912"/>
            <a:ext cx="22860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816352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Все группы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724912"/>
            <a:ext cx="265176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B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816352"/>
            <a:ext cx="2468879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Aptos"/>
              </a:defRPr>
            </a:pPr>
            <a:r>
              <a:t>Все дисциплины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264408"/>
            <a:ext cx="2834640" cy="365760"/>
          </a:xfrm>
          <a:prstGeom prst="rect">
            <a:avLst/>
          </a:prstGeom>
          <a:solidFill>
            <a:srgbClr val="E0EAF8"/>
          </a:solidFill>
          <a:ln>
            <a:solidFill>
              <a:srgbClr val="CD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37560"/>
            <a:ext cx="268833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  <a:latin typeface="Aptos"/>
              </a:defRPr>
            </a:pPr>
            <a:r>
              <a:t>Студент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60" y="3264408"/>
            <a:ext cx="1325880" cy="365760"/>
          </a:xfrm>
          <a:prstGeom prst="rect">
            <a:avLst/>
          </a:prstGeom>
          <a:solidFill>
            <a:srgbClr val="E0EAF8"/>
          </a:solidFill>
          <a:ln>
            <a:solidFill>
              <a:srgbClr val="CD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67912" y="3337560"/>
            <a:ext cx="117957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  <a:latin typeface="Aptos"/>
              </a:defRPr>
            </a:pPr>
            <a:r>
              <a:t>Группа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264408"/>
            <a:ext cx="2103120" cy="365760"/>
          </a:xfrm>
          <a:prstGeom prst="rect">
            <a:avLst/>
          </a:prstGeom>
          <a:solidFill>
            <a:srgbClr val="E0EAF8"/>
          </a:solidFill>
          <a:ln>
            <a:solidFill>
              <a:srgbClr val="CD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3337560"/>
            <a:ext cx="1956815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  <a:latin typeface="Aptos"/>
              </a:defRPr>
            </a:pPr>
            <a:r>
              <a:t>Дисциплина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264408"/>
            <a:ext cx="1005840" cy="365760"/>
          </a:xfrm>
          <a:prstGeom prst="rect">
            <a:avLst/>
          </a:prstGeom>
          <a:solidFill>
            <a:srgbClr val="E0EAF8"/>
          </a:solidFill>
          <a:ln>
            <a:solidFill>
              <a:srgbClr val="CD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3337560"/>
            <a:ext cx="85953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  <a:latin typeface="Aptos"/>
              </a:defRPr>
            </a:pPr>
            <a:r>
              <a:t>Баллы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264408"/>
            <a:ext cx="2148840" cy="365760"/>
          </a:xfrm>
          <a:prstGeom prst="rect">
            <a:avLst/>
          </a:prstGeom>
          <a:solidFill>
            <a:srgbClr val="E0EAF8"/>
          </a:solidFill>
          <a:ln>
            <a:solidFill>
              <a:srgbClr val="CD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337560"/>
            <a:ext cx="2002536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17365D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3630168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721608"/>
            <a:ext cx="268833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Алиев Нурлан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3630168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67912" y="3721608"/>
            <a:ext cx="117957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ИС-24-1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3630168"/>
            <a:ext cx="21031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3721608"/>
            <a:ext cx="1956815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63016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6912" y="3721608"/>
            <a:ext cx="85953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630168"/>
            <a:ext cx="2148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721608"/>
            <a:ext cx="200253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Отлично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4014216"/>
            <a:ext cx="2834640" cy="384048"/>
          </a:xfrm>
          <a:prstGeom prst="rect">
            <a:avLst/>
          </a:prstGeom>
          <a:solidFill>
            <a:srgbClr val="F8FAFD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105656"/>
            <a:ext cx="268833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Серикова Алия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94760" y="4014216"/>
            <a:ext cx="1325880" cy="384048"/>
          </a:xfrm>
          <a:prstGeom prst="rect">
            <a:avLst/>
          </a:prstGeom>
          <a:solidFill>
            <a:srgbClr val="F8FAFD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67912" y="4105656"/>
            <a:ext cx="117957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ИС-24-1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4014216"/>
            <a:ext cx="2103120" cy="384048"/>
          </a:xfrm>
          <a:prstGeom prst="rect">
            <a:avLst/>
          </a:prstGeom>
          <a:solidFill>
            <a:srgbClr val="F8FAFD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93792" y="4105656"/>
            <a:ext cx="1956815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Базы данных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4014216"/>
            <a:ext cx="1005840" cy="384048"/>
          </a:xfrm>
          <a:prstGeom prst="rect">
            <a:avLst/>
          </a:prstGeom>
          <a:solidFill>
            <a:srgbClr val="F8FAFD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96912" y="4105656"/>
            <a:ext cx="85953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014216"/>
            <a:ext cx="2148840" cy="384048"/>
          </a:xfrm>
          <a:prstGeom prst="rect">
            <a:avLst/>
          </a:prstGeom>
          <a:solidFill>
            <a:srgbClr val="F8FAFD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4105656"/>
            <a:ext cx="200253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Хорошо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" y="4398264"/>
            <a:ext cx="2834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4489704"/>
            <a:ext cx="268833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Иванов Артём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94760" y="4398264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67912" y="4489704"/>
            <a:ext cx="117957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ИС-24-2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4398264"/>
            <a:ext cx="21031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93792" y="4489704"/>
            <a:ext cx="1956815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4398264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4489704"/>
            <a:ext cx="85953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4398264"/>
            <a:ext cx="2148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4489704"/>
            <a:ext cx="200253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0">
                <a:solidFill>
                  <a:srgbClr val="233043"/>
                </a:solidFill>
                <a:latin typeface="Aptos"/>
              </a:defRPr>
            </a:pPr>
            <a:r>
              <a:t>Хорошо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79" y="5166360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1200" b="1">
                <a:solidFill>
                  <a:srgbClr val="245BDB"/>
                </a:solidFill>
                <a:latin typeface="Aptos"/>
              </a:defRPr>
            </a:pPr>
            <a:r>
              <a:t>Средний балл: 85.67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245BDB"/>
                </a:solidFill>
                <a:latin typeface="Aptos"/>
              </a:defRPr>
            </a:pPr>
            <a:r>
              <a:t>STUDENT GRADE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Форма записи и проверка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ptos"/>
              </a:defRPr>
            </a:pPr>
            <a:r>
              <a:t>СРО №1 • ВАРИАНТ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120640" cy="356616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73152" cy="356616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475487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Форма оценки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76272"/>
            <a:ext cx="4736592" cy="2816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900" b="1">
                <a:solidFill>
                  <a:srgbClr val="17365D"/>
                </a:solidFill>
                <a:latin typeface="Aptos"/>
              </a:defRPr>
            </a:pPr>
            <a:r>
              <a:t>Студент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2286000"/>
            <a:ext cx="3108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B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9152" y="2368296"/>
            <a:ext cx="2834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ФИО студента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26079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900" b="1">
                <a:solidFill>
                  <a:srgbClr val="17365D"/>
                </a:solidFill>
                <a:latin typeface="Aptos"/>
              </a:defRPr>
            </a:pPr>
            <a:r>
              <a:t>Группа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2880360"/>
            <a:ext cx="3108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B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59152" y="2962656"/>
            <a:ext cx="2834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ИС-24-1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20439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900" b="1">
                <a:solidFill>
                  <a:srgbClr val="17365D"/>
                </a:solidFill>
                <a:latin typeface="Aptos"/>
              </a:defRPr>
            </a:pPr>
            <a:r>
              <a:t>Дисциплина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3474720"/>
            <a:ext cx="3108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B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3557015"/>
            <a:ext cx="2834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900" b="1">
                <a:solidFill>
                  <a:srgbClr val="17365D"/>
                </a:solidFill>
                <a:latin typeface="Aptos"/>
              </a:defRPr>
            </a:pPr>
            <a:r>
              <a:t>Баллы (0–100)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4069080"/>
            <a:ext cx="3108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B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59152" y="4151376"/>
            <a:ext cx="28346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554480"/>
            <a:ext cx="5120640" cy="150876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1554480"/>
            <a:ext cx="73152" cy="15087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1719072"/>
            <a:ext cx="475487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Корректный ввод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2176272"/>
            <a:ext cx="4736592" cy="7589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Все поля заполнены, балл находится в диапазоне 0–100 — запись сохраняется.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383280"/>
            <a:ext cx="5120640" cy="1737360"/>
          </a:xfrm>
          <a:prstGeom prst="roundRect">
            <a:avLst/>
          </a:prstGeom>
          <a:solidFill>
            <a:srgbClr val="EDF3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383280"/>
            <a:ext cx="73152" cy="1737360"/>
          </a:xfrm>
          <a:prstGeom prst="rect">
            <a:avLst/>
          </a:prstGeom>
          <a:solidFill>
            <a:srgbClr val="C3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547872"/>
            <a:ext cx="4754879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Ошибочный ввод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4005072"/>
            <a:ext cx="4736592" cy="9875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0">
                <a:solidFill>
                  <a:srgbClr val="233043"/>
                </a:solidFill>
                <a:latin typeface="Aptos"/>
              </a:defRPr>
            </a:pPr>
            <a:r>
              <a:t>Пустые поля, текст вместо числа или значение вне диапазона вызывают сообщение об ошибке. Форма остаётся открытой.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77840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ptos"/>
              </a:defRPr>
            </a:pPr>
            <a:r>
              <a:t>Сюда можно добавить реальный скриншот формы из работающего приложения.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000" b="1">
                <a:solidFill>
                  <a:srgbClr val="245BDB"/>
                </a:solidFill>
                <a:latin typeface="Aptos"/>
              </a:defRPr>
            </a:pPr>
            <a:r>
              <a:t>STUDENT GRADE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Тестирование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ptos"/>
              </a:defRPr>
            </a:pPr>
            <a:r>
              <a:t>СРО №1 • ВАРИАНТ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81328"/>
            <a:ext cx="10698480" cy="548640"/>
          </a:xfrm>
          <a:prstGeom prst="roundRect">
            <a:avLst/>
          </a:prstGeom>
          <a:solidFill>
            <a:srgbClr val="EDF3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91056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245BDB"/>
                </a:solidFill>
                <a:latin typeface="Aptos"/>
              </a:defRPr>
            </a:pPr>
            <a:r>
              <a:t>✓  Запуск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91056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 b="0">
                <a:solidFill>
                  <a:srgbClr val="233043"/>
                </a:solidFill>
                <a:latin typeface="Aptos"/>
              </a:defRPr>
            </a:pPr>
            <a:r>
              <a:t>Главное окно и начальные записи отображаются.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10698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04288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245BDB"/>
                </a:solidFill>
                <a:latin typeface="Aptos"/>
              </a:defRPr>
            </a:pPr>
            <a:r>
              <a:t>✓  Валидация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04288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 b="0">
                <a:solidFill>
                  <a:srgbClr val="233043"/>
                </a:solidFill>
                <a:latin typeface="Aptos"/>
              </a:defRPr>
            </a:pPr>
            <a:r>
              <a:t>Пустые поля и неверные баллы не сохраняются.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07792"/>
            <a:ext cx="10698480" cy="548640"/>
          </a:xfrm>
          <a:prstGeom prst="roundRect">
            <a:avLst/>
          </a:prstGeom>
          <a:solidFill>
            <a:srgbClr val="EDF3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245BDB"/>
                </a:solidFill>
                <a:latin typeface="Aptos"/>
              </a:defRPr>
            </a:pPr>
            <a:r>
              <a:t>✓  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017520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 b="0">
                <a:solidFill>
                  <a:srgbClr val="233043"/>
                </a:solidFill>
                <a:latin typeface="Aptos"/>
              </a:defRPr>
            </a:pPr>
            <a:r>
              <a:t>Добавление, редактирование и удаление меняют журнал.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21024"/>
            <a:ext cx="10698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245BDB"/>
                </a:solidFill>
                <a:latin typeface="Aptos"/>
              </a:defRPr>
            </a:pPr>
            <a:r>
              <a:t>✓  Поиск/фильтры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30752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 b="0">
                <a:solidFill>
                  <a:srgbClr val="233043"/>
                </a:solidFill>
                <a:latin typeface="Aptos"/>
              </a:defRPr>
            </a:pPr>
            <a:r>
              <a:t>Таблица показывает только подходящие записи.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34256"/>
            <a:ext cx="10698480" cy="548640"/>
          </a:xfrm>
          <a:prstGeom prst="roundRect">
            <a:avLst/>
          </a:prstGeom>
          <a:solidFill>
            <a:srgbClr val="EDF3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43984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245BDB"/>
                </a:solidFill>
                <a:latin typeface="Aptos"/>
              </a:defRPr>
            </a:pPr>
            <a:r>
              <a:t>✓  Сохранение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443984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 b="0">
                <a:solidFill>
                  <a:srgbClr val="233043"/>
                </a:solidFill>
                <a:latin typeface="Aptos"/>
              </a:defRPr>
            </a:pPr>
            <a:r>
              <a:t>CSV содержит актуальные данные после изменений.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47488"/>
            <a:ext cx="106984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57216"/>
            <a:ext cx="22402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200" b="1">
                <a:solidFill>
                  <a:srgbClr val="245BDB"/>
                </a:solidFill>
                <a:latin typeface="Aptos"/>
              </a:defRPr>
            </a:pPr>
            <a:r>
              <a:t>✓  Средний балл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157216"/>
            <a:ext cx="7680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 b="0">
                <a:solidFill>
                  <a:srgbClr val="233043"/>
                </a:solidFill>
                <a:latin typeface="Aptos"/>
              </a:defRPr>
            </a:pPr>
            <a:r>
              <a:t>Показатель пересчитывается при смене фильтров.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100" b="1">
                <a:solidFill>
                  <a:srgbClr val="AACAFF"/>
                </a:solidFill>
                <a:latin typeface="Aptos"/>
              </a:defRPr>
            </a:pPr>
            <a:r>
              <a:t>STUDENT GRADE CALCULATOR • ВАРИАНТ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914400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Итоги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99669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 Подготовлен интерфейс на JavaFX с FXML и CSS.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99669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 Реализованы операции с журналом оценок, поиск и фильтры.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99669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 Добавлены валидация и сохранение данных в 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99669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 Перед сдачей необходимо выполнить локальный запуск и приложить фактические скриншоты.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6400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>
              <a:defRPr sz="1400" b="1">
                <a:solidFill>
                  <a:srgbClr val="AACAFF"/>
                </a:solidFill>
                <a:latin typeface="Aptos"/>
              </a:defRPr>
            </a:pPr>
            <a: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